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Proyecto personal, fuera de cualquier asignatura. Ya está publicado en PyPI y en el MCP Registry. Hoy lo presento por si puede interesar al profesorado y a otros alumnos.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Motivación personal: como estudiante, Canvas me obliga a navegar demasiado para preguntas simples. La información existe; el problema es el acceso.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es el mismo estándar que usan las integraciones oficiales de Anthropic y otros proveedores. Mi servidor es la pieza intermedia: corre en el portátil del alumno y habla con la API oficial de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alternativa habitual son servicios SaaS que piden tu token de Canvas: aquí la confianza se sustituye por código que cabe en una lectura. Decisión consciente: un solo módulo en vez de capas.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herramienta es una función Python con el decorador @mcp.tool(): la firma tipada y el docstring generan el esquema que ve el modelo. Además hay una herramienta auxiliar de línea de comandos, canvas-local-mcp-dump, que descarga todo el material para estudiar sin conexión.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suite usa httpx.MockTransport: cada prueba define las respuestas del «Canvas falso» y verifica la petición y la transformación. El bug de paginación solo se manifestaba con colecciones grandes: exactamente el tipo de fallo que las pruebas con dobles detectan antes que los usuarios. Ruff como linter; GitHub Actions ejecuta todo en cada push.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es solo un script: es un paquete versionado con distribución automatizada. La publicación en el MCP Registry usa OIDC de GitHub, sin tokens guardados en el repositorio.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Ejemplos reales del flujo diario. La tercera consulta usa la herramienta de volcado: todo el material de los cursos queda disponible sin conexión, listo para indexar o estudiar.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no vengo a pedir nada, vengo a compartir. Si a algún profesor le encaja como ejemplo en clase, o algún alumno quiere usarlo o contribuir, el repositorio está abierto. Encantado de recibir sugerencias de quien conoce Canvas desde el lado del profesorado.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canvas-mcp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548640" y="28803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MCP local para Canvas LMS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194560" y="3886200"/>
            <a:ext cx="7799832" cy="658368"/>
          </a:xfrm>
          <a:prstGeom prst="roundRect">
            <a:avLst>
              <a:gd name="adj" fmla="val 16667"/>
            </a:avLst>
          </a:prstGeom>
          <a:solidFill>
            <a:srgbClr val="0E242D"/>
          </a:solidFill>
          <a:ln/>
        </p:spPr>
      </p:sp>
      <p:sp>
        <p:nvSpPr>
          <p:cNvPr id="5" name="Text 3"/>
          <p:cNvSpPr/>
          <p:nvPr/>
        </p:nvSpPr>
        <p:spPr>
          <a:xfrm>
            <a:off x="2194560" y="3886200"/>
            <a:ext cx="7799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7E5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[cliente MCP] --stdio--&gt; [server.py] --HTTPS--&gt; [API Canvas]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personal de código abierto  ·  julio de 2026  ·  github.com/admin978/canvas-mcp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problema: Canvas visto desde el pupitre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9584" cy="3566160"/>
          </a:xfrm>
          <a:prstGeom prst="roundRect">
            <a:avLst>
              <a:gd name="adj" fmla="val 2591"/>
            </a:avLst>
          </a:prstGeom>
          <a:solidFill>
            <a:srgbClr val="EEF4F6"/>
          </a:solidFill>
          <a:ln/>
        </p:spPr>
      </p:sp>
      <p:sp>
        <p:nvSpPr>
          <p:cNvPr id="4" name="Shape 2"/>
          <p:cNvSpPr/>
          <p:nvPr/>
        </p:nvSpPr>
        <p:spPr>
          <a:xfrm>
            <a:off x="1929384" y="1828800"/>
            <a:ext cx="768096" cy="768096"/>
          </a:xfrm>
          <a:prstGeom prst="ellipse">
            <a:avLst/>
          </a:prstGeom>
          <a:solidFill>
            <a:srgbClr val="1F4E5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6770" y="2036186"/>
            <a:ext cx="353324" cy="3533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2788920"/>
            <a:ext cx="3072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Experiencia fragmentada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3337560"/>
            <a:ext cx="29809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interfaz está pensada para el profesorado. El estudiante salta entre cursos, módulos y pestañas para responder una sola pregunta.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4370832" y="1417320"/>
            <a:ext cx="3529584" cy="3566160"/>
          </a:xfrm>
          <a:prstGeom prst="roundRect">
            <a:avLst>
              <a:gd name="adj" fmla="val 2591"/>
            </a:avLst>
          </a:prstGeom>
          <a:solidFill>
            <a:srgbClr val="EEF4F6"/>
          </a:solidFill>
          <a:ln/>
        </p:spPr>
      </p:sp>
      <p:sp>
        <p:nvSpPr>
          <p:cNvPr id="9" name="Shape 6"/>
          <p:cNvSpPr/>
          <p:nvPr/>
        </p:nvSpPr>
        <p:spPr>
          <a:xfrm>
            <a:off x="5751576" y="1828800"/>
            <a:ext cx="768096" cy="768096"/>
          </a:xfrm>
          <a:prstGeom prst="ellipse">
            <a:avLst/>
          </a:prstGeom>
          <a:solidFill>
            <a:srgbClr val="1F4E5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962" y="2036186"/>
            <a:ext cx="353324" cy="35332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99432" y="2788920"/>
            <a:ext cx="3072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búsqueda transversal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4645152" y="3337560"/>
            <a:ext cx="29809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forma de buscar «entre todos mis cursos». Cada consulta hay que repetirla curso a curso.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8193024" y="1417320"/>
            <a:ext cx="3529584" cy="3566160"/>
          </a:xfrm>
          <a:prstGeom prst="roundRect">
            <a:avLst>
              <a:gd name="adj" fmla="val 2591"/>
            </a:avLst>
          </a:prstGeom>
          <a:solidFill>
            <a:srgbClr val="EEF4F6"/>
          </a:solidFill>
          <a:ln/>
        </p:spPr>
      </p:sp>
      <p:sp>
        <p:nvSpPr>
          <p:cNvPr id="14" name="Shape 10"/>
          <p:cNvSpPr/>
          <p:nvPr/>
        </p:nvSpPr>
        <p:spPr>
          <a:xfrm>
            <a:off x="9573768" y="1828800"/>
            <a:ext cx="768096" cy="768096"/>
          </a:xfrm>
          <a:prstGeom prst="ellipse">
            <a:avLst/>
          </a:prstGeom>
          <a:solidFill>
            <a:srgbClr val="1F4E5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1154" y="2036186"/>
            <a:ext cx="353324" cy="35332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21624" y="2788920"/>
            <a:ext cx="3072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tardíos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8467344" y="3337560"/>
            <a:ext cx="29809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notificaciones llegan tarde o no llegan. Las fechas límite se descubren mirando el calendario a mano.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548640" y="539496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E25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están todos en Canvas — lo que falta es una forma cómoda de preguntar por ellos.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solución: hablar con Canvas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55778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(MCP)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 abierto que permite a un asistente de IA invocar «herramientas» de servicios externos.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canvas-mcp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45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 la API REST oficial de Canvas como 10 herramientas MCP de lectura: cursos, tareas, notas, agenda, anuncios y material.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</a:t>
            </a:r>
            <a:endParaRPr lang="en-US" sz="1600" dirty="0"/>
          </a:p>
          <a:p>
            <a:pPr indent="0" marL="0">
              <a:buNone/>
            </a:pPr>
            <a:r>
              <a:rPr lang="en-US" sz="145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Claude Code, Claude Desktop o cualquier cliente MCP: «¿qué entregas tengo esta semana?» y la respuesta llega con datos en vivo.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0" y="1417320"/>
            <a:ext cx="4023360" cy="1005840"/>
          </a:xfrm>
          <a:prstGeom prst="roundRect">
            <a:avLst>
              <a:gd name="adj" fmla="val 8182"/>
            </a:avLst>
          </a:prstGeom>
          <a:solidFill>
            <a:srgbClr val="1F4E5F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0" y="15270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MCP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0" y="19476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· Claude Desktop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315200" y="3017520"/>
            <a:ext cx="4023360" cy="1005840"/>
          </a:xfrm>
          <a:prstGeom prst="roundRect">
            <a:avLst>
              <a:gd name="adj" fmla="val 8182"/>
            </a:avLst>
          </a:prstGeom>
          <a:solidFill>
            <a:srgbClr val="16333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0" y="31272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canvas-mcp (local)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0" y="35478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server.py · token en ~/.canvas.env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0" y="4617720"/>
            <a:ext cx="4023360" cy="1005840"/>
          </a:xfrm>
          <a:prstGeom prst="roundRect">
            <a:avLst>
              <a:gd name="adj" fmla="val 8182"/>
            </a:avLst>
          </a:prstGeom>
          <a:solidFill>
            <a:srgbClr val="1F4E5F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0" y="47274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oficial de Canvas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0" y="51480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· instancia de la institución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326880" y="2423160"/>
            <a:ext cx="0" cy="594360"/>
          </a:xfrm>
          <a:prstGeom prst="line">
            <a:avLst/>
          </a:prstGeom>
          <a:noFill/>
          <a:ln w="25400">
            <a:solidFill>
              <a:srgbClr val="5F7078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64040" y="249631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stdio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326880" y="4023360"/>
            <a:ext cx="0" cy="594360"/>
          </a:xfrm>
          <a:prstGeom prst="line">
            <a:avLst/>
          </a:prstGeom>
          <a:noFill/>
          <a:ln w="25400">
            <a:solidFill>
              <a:srgbClr val="5F7078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9464040" y="409651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70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Diseño: privacidad primero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658368" cy="658368"/>
          </a:xfrm>
          <a:prstGeom prst="ellipse">
            <a:avLst/>
          </a:prstGeom>
          <a:solidFill>
            <a:srgbClr val="1F4E5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839" y="1595079"/>
            <a:ext cx="302849" cy="3028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36192" y="13990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token nunca sale de tu máquina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536192" y="1764792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guarda en ~/.canvas.env (permisos 600) y solo viaja a la instancia oficial de Canvas, por HTTPS.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2532888"/>
            <a:ext cx="658368" cy="658368"/>
          </a:xfrm>
          <a:prstGeom prst="ellipse">
            <a:avLst/>
          </a:prstGeom>
          <a:solidFill>
            <a:srgbClr val="1F4E5F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839" y="2710647"/>
            <a:ext cx="302849" cy="302849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36192" y="25146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 stdio, sin puertos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1536192" y="288036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lanza el servidor como subproceso local: no hay red propia que asegurar.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640080" y="3648456"/>
            <a:ext cx="658368" cy="658368"/>
          </a:xfrm>
          <a:prstGeom prst="ellipse">
            <a:avLst/>
          </a:prstGeom>
          <a:solidFill>
            <a:srgbClr val="1F4E5F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839" y="3826215"/>
            <a:ext cx="302849" cy="302849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536192" y="363016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Pequeño y auditable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1536192" y="3995928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Puedes leer el servidor entero antes de confiarle tu token. Solo lectura: no puede modificar nada en Canvas.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640080" y="4764024"/>
            <a:ext cx="658368" cy="658368"/>
          </a:xfrm>
          <a:prstGeom prst="ellipse">
            <a:avLst/>
          </a:prstGeom>
          <a:solidFill>
            <a:srgbClr val="1F4E5F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839" y="4941783"/>
            <a:ext cx="302849" cy="302849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536192" y="474573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Respuestas filtradas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1536192" y="5111496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respuesta de la API se reduce a los campos útiles antes de llegar al modelo.</a:t>
            </a:r>
            <a:endParaRPr lang="en-US" sz="1300" dirty="0"/>
          </a:p>
        </p:txBody>
      </p:sp>
      <p:sp>
        <p:nvSpPr>
          <p:cNvPr id="19" name="Shape 13"/>
          <p:cNvSpPr/>
          <p:nvPr/>
        </p:nvSpPr>
        <p:spPr>
          <a:xfrm>
            <a:off x="8046720" y="1417320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EEF4F6"/>
          </a:solidFill>
          <a:ln/>
        </p:spPr>
      </p:sp>
      <p:sp>
        <p:nvSpPr>
          <p:cNvPr id="20" name="Text 14"/>
          <p:cNvSpPr/>
          <p:nvPr/>
        </p:nvSpPr>
        <p:spPr>
          <a:xfrm>
            <a:off x="8046720" y="1508760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25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~300</a:t>
            </a:r>
            <a:endParaRPr lang="en-US" sz="4000" dirty="0"/>
          </a:p>
        </p:txBody>
      </p:sp>
      <p:sp>
        <p:nvSpPr>
          <p:cNvPr id="21" name="Text 15"/>
          <p:cNvSpPr/>
          <p:nvPr/>
        </p:nvSpPr>
        <p:spPr>
          <a:xfrm>
            <a:off x="8046720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 de Python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8046720" y="2907792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EEF4F6"/>
          </a:solidFill>
          <a:ln/>
        </p:spPr>
      </p:sp>
      <p:sp>
        <p:nvSpPr>
          <p:cNvPr id="23" name="Text 17"/>
          <p:cNvSpPr/>
          <p:nvPr/>
        </p:nvSpPr>
        <p:spPr>
          <a:xfrm>
            <a:off x="8046720" y="299923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25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24" name="Text 18"/>
          <p:cNvSpPr/>
          <p:nvPr/>
        </p:nvSpPr>
        <p:spPr>
          <a:xfrm>
            <a:off x="8046720" y="37307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intermediarios de terceros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8046720" y="4398264"/>
            <a:ext cx="3566160" cy="1280160"/>
          </a:xfrm>
          <a:prstGeom prst="roundRect">
            <a:avLst>
              <a:gd name="adj" fmla="val 7143"/>
            </a:avLst>
          </a:prstGeom>
          <a:solidFill>
            <a:srgbClr val="EEF4F6"/>
          </a:solidFill>
          <a:ln/>
        </p:spPr>
      </p:sp>
      <p:sp>
        <p:nvSpPr>
          <p:cNvPr id="26" name="Text 20"/>
          <p:cNvSpPr/>
          <p:nvPr/>
        </p:nvSpPr>
        <p:spPr>
          <a:xfrm>
            <a:off x="8046720" y="4489704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E257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27" name="Text 21"/>
          <p:cNvSpPr/>
          <p:nvPr/>
        </p:nvSpPr>
        <p:spPr>
          <a:xfrm>
            <a:off x="8046720" y="5221224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dependencias (httpx + SDK MCP)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herramientas de lectura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239512" cy="2331720"/>
          </a:xfrm>
          <a:prstGeom prst="roundRect">
            <a:avLst>
              <a:gd name="adj" fmla="val 3922"/>
            </a:avLst>
          </a:prstGeom>
          <a:solidFill>
            <a:srgbClr val="EEF4F6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00200"/>
            <a:ext cx="4690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Cursos y contenido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2240280" cy="512064"/>
          </a:xfrm>
          <a:prstGeom prst="roundRect">
            <a:avLst>
              <a:gd name="adj" fmla="val 14286"/>
            </a:avLst>
          </a:prstGeom>
          <a:solidFill>
            <a:srgbClr val="16333F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103120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7E5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list_courses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218688" y="2103120"/>
            <a:ext cx="2240280" cy="512064"/>
          </a:xfrm>
          <a:prstGeom prst="roundRect">
            <a:avLst>
              <a:gd name="adj" fmla="val 14286"/>
            </a:avLst>
          </a:prstGeom>
          <a:solidFill>
            <a:srgbClr val="16333F"/>
          </a:solidFill>
          <a:ln/>
        </p:spPr>
      </p:sp>
      <p:sp>
        <p:nvSpPr>
          <p:cNvPr id="8" name="Text 6"/>
          <p:cNvSpPr/>
          <p:nvPr/>
        </p:nvSpPr>
        <p:spPr>
          <a:xfrm>
            <a:off x="3218688" y="2103120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7E5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list_modules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22960" y="2761488"/>
            <a:ext cx="2240280" cy="512064"/>
          </a:xfrm>
          <a:prstGeom prst="roundRect">
            <a:avLst>
              <a:gd name="adj" fmla="val 14286"/>
            </a:avLst>
          </a:prstGeom>
          <a:solidFill>
            <a:srgbClr val="16333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276148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7E5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get_page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218688" y="2761488"/>
            <a:ext cx="2240280" cy="512064"/>
          </a:xfrm>
          <a:prstGeom prst="roundRect">
            <a:avLst>
              <a:gd name="adj" fmla="val 14286"/>
            </a:avLst>
          </a:prstGeom>
          <a:solidFill>
            <a:srgbClr val="16333F"/>
          </a:solidFill>
          <a:ln/>
        </p:spPr>
      </p:sp>
      <p:sp>
        <p:nvSpPr>
          <p:cNvPr id="12" name="Text 10"/>
          <p:cNvSpPr/>
          <p:nvPr/>
        </p:nvSpPr>
        <p:spPr>
          <a:xfrm>
            <a:off x="3218688" y="276148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7E5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get_file_info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0" y="1417320"/>
            <a:ext cx="5239512" cy="2331720"/>
          </a:xfrm>
          <a:prstGeom prst="roundRect">
            <a:avLst>
              <a:gd name="adj" fmla="val 3922"/>
            </a:avLst>
          </a:prstGeom>
          <a:solidFill>
            <a:srgbClr val="EEF4F6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0" y="1600200"/>
            <a:ext cx="4690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Tareas y agenda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675120" y="2103120"/>
            <a:ext cx="2240280" cy="512064"/>
          </a:xfrm>
          <a:prstGeom prst="roundRect">
            <a:avLst>
              <a:gd name="adj" fmla="val 14286"/>
            </a:avLst>
          </a:prstGeom>
          <a:solidFill>
            <a:srgbClr val="16333F"/>
          </a:solidFill>
          <a:ln/>
        </p:spPr>
      </p:sp>
      <p:sp>
        <p:nvSpPr>
          <p:cNvPr id="16" name="Text 14"/>
          <p:cNvSpPr/>
          <p:nvPr/>
        </p:nvSpPr>
        <p:spPr>
          <a:xfrm>
            <a:off x="6675120" y="2103120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7E5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list_assignments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070848" y="2103120"/>
            <a:ext cx="2240280" cy="512064"/>
          </a:xfrm>
          <a:prstGeom prst="roundRect">
            <a:avLst>
              <a:gd name="adj" fmla="val 14286"/>
            </a:avLst>
          </a:prstGeom>
          <a:solidFill>
            <a:srgbClr val="16333F"/>
          </a:solidFill>
          <a:ln/>
        </p:spPr>
      </p:sp>
      <p:sp>
        <p:nvSpPr>
          <p:cNvPr id="18" name="Text 16"/>
          <p:cNvSpPr/>
          <p:nvPr/>
        </p:nvSpPr>
        <p:spPr>
          <a:xfrm>
            <a:off x="9070848" y="2103120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7E5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planner_items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675120" y="2761488"/>
            <a:ext cx="2240280" cy="512064"/>
          </a:xfrm>
          <a:prstGeom prst="roundRect">
            <a:avLst>
              <a:gd name="adj" fmla="val 14286"/>
            </a:avLst>
          </a:prstGeom>
          <a:solidFill>
            <a:srgbClr val="16333F"/>
          </a:solidFill>
          <a:ln/>
        </p:spPr>
      </p:sp>
      <p:sp>
        <p:nvSpPr>
          <p:cNvPr id="20" name="Text 18"/>
          <p:cNvSpPr/>
          <p:nvPr/>
        </p:nvSpPr>
        <p:spPr>
          <a:xfrm>
            <a:off x="6675120" y="276148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7E5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upcoming_events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9070848" y="2761488"/>
            <a:ext cx="2240280" cy="512064"/>
          </a:xfrm>
          <a:prstGeom prst="roundRect">
            <a:avLst>
              <a:gd name="adj" fmla="val 14286"/>
            </a:avLst>
          </a:prstGeom>
          <a:solidFill>
            <a:srgbClr val="16333F"/>
          </a:solidFill>
          <a:ln/>
        </p:spPr>
      </p:sp>
      <p:sp>
        <p:nvSpPr>
          <p:cNvPr id="22" name="Text 20"/>
          <p:cNvSpPr/>
          <p:nvPr/>
        </p:nvSpPr>
        <p:spPr>
          <a:xfrm>
            <a:off x="9070848" y="2761488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7E5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todo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3977640"/>
            <a:ext cx="5239512" cy="2331720"/>
          </a:xfrm>
          <a:prstGeom prst="roundRect">
            <a:avLst>
              <a:gd name="adj" fmla="val 3922"/>
            </a:avLst>
          </a:prstGeom>
          <a:solidFill>
            <a:srgbClr val="EEF4F6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4160520"/>
            <a:ext cx="4690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22960" y="4663440"/>
            <a:ext cx="2240280" cy="512064"/>
          </a:xfrm>
          <a:prstGeom prst="roundRect">
            <a:avLst>
              <a:gd name="adj" fmla="val 14286"/>
            </a:avLst>
          </a:prstGeom>
          <a:solidFill>
            <a:srgbClr val="16333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4663440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7E5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list_announcements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0" y="3977640"/>
            <a:ext cx="5239512" cy="2331720"/>
          </a:xfrm>
          <a:prstGeom prst="roundRect">
            <a:avLst>
              <a:gd name="adj" fmla="val 3922"/>
            </a:avLst>
          </a:prstGeom>
          <a:solidFill>
            <a:srgbClr val="EEF4F6"/>
          </a:solidFill>
          <a:ln/>
        </p:spPr>
      </p:sp>
      <p:sp>
        <p:nvSpPr>
          <p:cNvPr id="28" name="Text 26"/>
          <p:cNvSpPr/>
          <p:nvPr/>
        </p:nvSpPr>
        <p:spPr>
          <a:xfrm>
            <a:off x="6675120" y="4160520"/>
            <a:ext cx="4690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Calificaciones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675120" y="4663440"/>
            <a:ext cx="2240280" cy="512064"/>
          </a:xfrm>
          <a:prstGeom prst="roundRect">
            <a:avLst>
              <a:gd name="adj" fmla="val 14286"/>
            </a:avLst>
          </a:prstGeom>
          <a:solidFill>
            <a:srgbClr val="16333F"/>
          </a:solidFill>
          <a:ln/>
        </p:spPr>
      </p:sp>
      <p:sp>
        <p:nvSpPr>
          <p:cNvPr id="30" name="Text 28"/>
          <p:cNvSpPr/>
          <p:nvPr/>
        </p:nvSpPr>
        <p:spPr>
          <a:xfrm>
            <a:off x="6675120" y="4663440"/>
            <a:ext cx="22402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7E5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get_grades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Calidad: pruebas, lint y CI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9584" cy="1691640"/>
          </a:xfrm>
          <a:prstGeom prst="roundRect">
            <a:avLst>
              <a:gd name="adj" fmla="val 5405"/>
            </a:avLst>
          </a:prstGeom>
          <a:solidFill>
            <a:srgbClr val="EEF4F6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3529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777240" y="2377440"/>
            <a:ext cx="3072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(pytest) contra una API de Canvas simulada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70832" y="1417320"/>
            <a:ext cx="3529584" cy="1691640"/>
          </a:xfrm>
          <a:prstGeom prst="roundRect">
            <a:avLst>
              <a:gd name="adj" fmla="val 5405"/>
            </a:avLst>
          </a:prstGeom>
          <a:solidFill>
            <a:srgbClr val="EEF4F6"/>
          </a:solidFill>
          <a:ln/>
        </p:spPr>
      </p:sp>
      <p:sp>
        <p:nvSpPr>
          <p:cNvPr id="7" name="Text 5"/>
          <p:cNvSpPr/>
          <p:nvPr/>
        </p:nvSpPr>
        <p:spPr>
          <a:xfrm>
            <a:off x="4370832" y="1554480"/>
            <a:ext cx="3529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99432" y="2377440"/>
            <a:ext cx="3072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versiones de Python en CI (3.10 – 3.13)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93024" y="1417320"/>
            <a:ext cx="3529584" cy="1691640"/>
          </a:xfrm>
          <a:prstGeom prst="roundRect">
            <a:avLst>
              <a:gd name="adj" fmla="val 5405"/>
            </a:avLst>
          </a:prstGeom>
          <a:solidFill>
            <a:srgbClr val="EEF4F6"/>
          </a:solidFill>
          <a:ln/>
        </p:spPr>
      </p:sp>
      <p:sp>
        <p:nvSpPr>
          <p:cNvPr id="10" name="Text 8"/>
          <p:cNvSpPr/>
          <p:nvPr/>
        </p:nvSpPr>
        <p:spPr>
          <a:xfrm>
            <a:off x="8193024" y="1554480"/>
            <a:ext cx="3529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8421624" y="2377440"/>
            <a:ext cx="3072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F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llamadas de red y credenciales necesarias en las pruebas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11091672" cy="2377440"/>
          </a:xfrm>
          <a:prstGeom prst="roundRect">
            <a:avLst>
              <a:gd name="adj" fmla="val 3846"/>
            </a:avLst>
          </a:prstGeom>
          <a:solidFill>
            <a:srgbClr val="16333F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114800"/>
            <a:ext cx="822960" cy="822960"/>
          </a:xfrm>
          <a:prstGeom prst="ellipse">
            <a:avLst/>
          </a:prstGeom>
          <a:solidFill>
            <a:srgbClr val="E2574C"/>
          </a:solidFill>
          <a:ln/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6599" y="4336999"/>
            <a:ext cx="378562" cy="37856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011680" y="37490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error real cazado por las pruebas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2011680" y="420624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probar la paginación afloró un bucle infinito: al seguir el enlace rel="next", el código pasaba params={} y httpx eliminaba la query de la URL — el servidor pedía la página 1 una y otra vez en cualquier colección con más de una página. Corregido y cubierto con una prueba de regresión.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y automatizado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48056" y="1828800"/>
            <a:ext cx="2514600" cy="1143000"/>
          </a:xfrm>
          <a:prstGeom prst="roundRect">
            <a:avLst>
              <a:gd name="adj" fmla="val 7200"/>
            </a:avLst>
          </a:prstGeom>
          <a:solidFill>
            <a:srgbClr val="1F4E5F"/>
          </a:solidFill>
          <a:ln/>
        </p:spPr>
      </p:sp>
      <p:sp>
        <p:nvSpPr>
          <p:cNvPr id="4" name="Text 2"/>
          <p:cNvSpPr/>
          <p:nvPr/>
        </p:nvSpPr>
        <p:spPr>
          <a:xfrm>
            <a:off x="448056" y="195681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tag v0.1.1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39496" y="239572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 versión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017520" y="2395728"/>
            <a:ext cx="301752" cy="0"/>
          </a:xfrm>
          <a:prstGeom prst="line">
            <a:avLst/>
          </a:prstGeom>
          <a:noFill/>
          <a:ln w="31750">
            <a:solidFill>
              <a:srgbClr val="5F7078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374136" y="1828800"/>
            <a:ext cx="2514600" cy="1143000"/>
          </a:xfrm>
          <a:prstGeom prst="roundRect">
            <a:avLst>
              <a:gd name="adj" fmla="val 7200"/>
            </a:avLst>
          </a:prstGeom>
          <a:solidFill>
            <a:srgbClr val="16333F"/>
          </a:solidFill>
          <a:ln/>
        </p:spPr>
      </p:sp>
      <p:sp>
        <p:nvSpPr>
          <p:cNvPr id="8" name="Text 6"/>
          <p:cNvSpPr/>
          <p:nvPr/>
        </p:nvSpPr>
        <p:spPr>
          <a:xfrm>
            <a:off x="3374136" y="195681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465576" y="239572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+ 21 pruebas × 4 Pythons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0" y="2395728"/>
            <a:ext cx="301752" cy="0"/>
          </a:xfrm>
          <a:prstGeom prst="line">
            <a:avLst/>
          </a:prstGeom>
          <a:noFill/>
          <a:ln w="31750">
            <a:solidFill>
              <a:srgbClr val="5F707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300216" y="1828800"/>
            <a:ext cx="2514600" cy="1143000"/>
          </a:xfrm>
          <a:prstGeom prst="roundRect">
            <a:avLst>
              <a:gd name="adj" fmla="val 7200"/>
            </a:avLst>
          </a:prstGeom>
          <a:solidFill>
            <a:srgbClr val="1F4E5F"/>
          </a:solidFill>
          <a:ln/>
        </p:spPr>
      </p:sp>
      <p:sp>
        <p:nvSpPr>
          <p:cNvPr id="12" name="Text 10"/>
          <p:cNvSpPr/>
          <p:nvPr/>
        </p:nvSpPr>
        <p:spPr>
          <a:xfrm>
            <a:off x="6300216" y="195681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PyPI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91656" y="239572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canvas-local-mcp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869680" y="2395728"/>
            <a:ext cx="301752" cy="0"/>
          </a:xfrm>
          <a:prstGeom prst="line">
            <a:avLst/>
          </a:prstGeom>
          <a:noFill/>
          <a:ln w="31750">
            <a:solidFill>
              <a:srgbClr val="5F707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9226296" y="1828800"/>
            <a:ext cx="2514600" cy="1143000"/>
          </a:xfrm>
          <a:prstGeom prst="roundRect">
            <a:avLst>
              <a:gd name="adj" fmla="val 7200"/>
            </a:avLst>
          </a:prstGeom>
          <a:solidFill>
            <a:srgbClr val="1F4E5F"/>
          </a:solidFill>
          <a:ln/>
        </p:spPr>
      </p:sp>
      <p:sp>
        <p:nvSpPr>
          <p:cNvPr id="16" name="Text 14"/>
          <p:cNvSpPr/>
          <p:nvPr/>
        </p:nvSpPr>
        <p:spPr>
          <a:xfrm>
            <a:off x="9226296" y="195681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Registry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317736" y="2395728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OIDC, sin secretos almacenados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37947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Instalación para cualquier alumno: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3108960" y="4251960"/>
            <a:ext cx="5971032" cy="640080"/>
          </a:xfrm>
          <a:prstGeom prst="roundRect">
            <a:avLst>
              <a:gd name="adj" fmla="val 14286"/>
            </a:avLst>
          </a:prstGeom>
          <a:solidFill>
            <a:srgbClr val="0E242D"/>
          </a:solidFill>
          <a:ln/>
        </p:spPr>
      </p:sp>
      <p:sp>
        <p:nvSpPr>
          <p:cNvPr id="20" name="Text 18"/>
          <p:cNvSpPr/>
          <p:nvPr/>
        </p:nvSpPr>
        <p:spPr>
          <a:xfrm>
            <a:off x="3108960" y="4251960"/>
            <a:ext cx="5971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7FD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canvas-local-mcp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48640" y="525780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F7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Registrado en el MCP Registry oficial → los clientes compatibles pueden descubrirlo e instalarlo solos.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4E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acción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146304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1F4E5F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46304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«¿Qué entregas tengo esta semana?»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178308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EEF4F6"/>
          </a:solidFill>
          <a:ln/>
        </p:spPr>
      </p:sp>
      <p:sp>
        <p:nvSpPr>
          <p:cNvPr id="6" name="Text 4"/>
          <p:cNvSpPr/>
          <p:nvPr/>
        </p:nvSpPr>
        <p:spPr>
          <a:xfrm>
            <a:off x="6537960" y="178308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Tres: la práctica de Redes el jueves 23:59, el test de Álgebra el viernes y una lectura para el lunes.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22960" y="320040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1F4E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004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«¿Cómo voy en Programación II?»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09360" y="352044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EEF4F6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352044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Llevas un 8,4 de nota actual. La última práctica está calificada con 9/10.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493776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1F4E5F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49377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«Descárgame el material de todos mis cursos»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09360" y="5257800"/>
            <a:ext cx="5120640" cy="1143000"/>
          </a:xfrm>
          <a:prstGeom prst="roundRect">
            <a:avLst>
              <a:gd name="adj" fmla="val 9600"/>
            </a:avLst>
          </a:prstGeom>
          <a:solidFill>
            <a:srgbClr val="EEF4F6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525780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734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canvas-local-mcp-dump → 412 ficheros en ./canvas-dump/, organizados por curso y módulo.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3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¿Puede interesar aquí?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3529584" cy="3063240"/>
          </a:xfrm>
          <a:prstGeom prst="roundRect">
            <a:avLst>
              <a:gd name="adj" fmla="val 2985"/>
            </a:avLst>
          </a:prstGeom>
          <a:solidFill>
            <a:srgbClr val="0E242D"/>
          </a:solidFill>
          <a:ln/>
        </p:spPr>
      </p:sp>
      <p:sp>
        <p:nvSpPr>
          <p:cNvPr id="4" name="Shape 2"/>
          <p:cNvSpPr/>
          <p:nvPr/>
        </p:nvSpPr>
        <p:spPr>
          <a:xfrm>
            <a:off x="1929384" y="1965960"/>
            <a:ext cx="768096" cy="768096"/>
          </a:xfrm>
          <a:prstGeom prst="ellipse">
            <a:avLst/>
          </a:prstGeom>
          <a:solidFill>
            <a:srgbClr val="E2574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6770" y="2173346"/>
            <a:ext cx="353324" cy="3533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288036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estudiantes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338328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alumno puede instalarlo hoy y usarlo con sus propios cursos. No requiere nada de la institución.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70832" y="1600200"/>
            <a:ext cx="3529584" cy="3063240"/>
          </a:xfrm>
          <a:prstGeom prst="roundRect">
            <a:avLst>
              <a:gd name="adj" fmla="val 2985"/>
            </a:avLst>
          </a:prstGeom>
          <a:solidFill>
            <a:srgbClr val="0E242D"/>
          </a:solidFill>
          <a:ln/>
        </p:spPr>
      </p:sp>
      <p:sp>
        <p:nvSpPr>
          <p:cNvPr id="9" name="Shape 6"/>
          <p:cNvSpPr/>
          <p:nvPr/>
        </p:nvSpPr>
        <p:spPr>
          <a:xfrm>
            <a:off x="5751576" y="1965960"/>
            <a:ext cx="768096" cy="768096"/>
          </a:xfrm>
          <a:prstGeom prst="ellipse">
            <a:avLst/>
          </a:prstGeom>
          <a:solidFill>
            <a:srgbClr val="E2574C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962" y="2173346"/>
            <a:ext cx="353324" cy="35332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99432" y="288036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docencia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4645152" y="338328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~300 líneas con pruebas, CI y publicación automatizada: un caso de estudio compacto de ingeniería del software real.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93024" y="1600200"/>
            <a:ext cx="3529584" cy="3063240"/>
          </a:xfrm>
          <a:prstGeom prst="roundRect">
            <a:avLst>
              <a:gd name="adj" fmla="val 2985"/>
            </a:avLst>
          </a:prstGeom>
          <a:solidFill>
            <a:srgbClr val="0E242D"/>
          </a:solidFill>
          <a:ln/>
        </p:spPr>
      </p:sp>
      <p:sp>
        <p:nvSpPr>
          <p:cNvPr id="14" name="Shape 10"/>
          <p:cNvSpPr/>
          <p:nvPr/>
        </p:nvSpPr>
        <p:spPr>
          <a:xfrm>
            <a:off x="9573768" y="1965960"/>
            <a:ext cx="768096" cy="768096"/>
          </a:xfrm>
          <a:prstGeom prst="ellipse">
            <a:avLst/>
          </a:prstGeom>
          <a:solidFill>
            <a:srgbClr val="E2574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1154" y="2173346"/>
            <a:ext cx="353324" cy="35332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21624" y="2880360"/>
            <a:ext cx="3072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contribuir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8467344" y="3383280"/>
            <a:ext cx="298094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D7E5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abierto (MIT). Ideas en marcha: búsqueda sobre el material, caché local, notificaciones proactivas.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3108960" y="5029200"/>
            <a:ext cx="5971032" cy="594360"/>
          </a:xfrm>
          <a:prstGeom prst="roundRect">
            <a:avLst>
              <a:gd name="adj" fmla="val 15385"/>
            </a:avLst>
          </a:prstGeom>
          <a:solidFill>
            <a:srgbClr val="0E242D"/>
          </a:solidFill>
          <a:ln/>
        </p:spPr>
      </p:sp>
      <p:sp>
        <p:nvSpPr>
          <p:cNvPr id="19" name="Text 14"/>
          <p:cNvSpPr/>
          <p:nvPr/>
        </p:nvSpPr>
        <p:spPr>
          <a:xfrm>
            <a:off x="3108960" y="5029200"/>
            <a:ext cx="5971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FD1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pip install canvas-local-mcp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github.com/admin978/canvas-mcp  ·  admin@agente404.com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2026-07-17T15:45:01Z</dcterms:created>
  <dcterms:modified xsi:type="dcterms:W3CDTF">2026-07-17T15:45:01Z</dcterms:modified>
</cp:coreProperties>
</file>