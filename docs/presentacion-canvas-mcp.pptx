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personal, fuera de cualquier asignatura. Ya está publicado en PyPI y en el MCP Registry. Hoy lo presento por si puede interesar al profesorado y a otros alumnos.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de la charla: del problema al código, y de ahí a por qué puede interesar a la institución.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Motivación personal: como estudiante, Canvas me obliga a navegar demasiado para preguntas simples. La información existe; el problema es el acceso.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es el mismo estándar que usan las integraciones oficiales de Anthropic y otros proveedores. Mi servidor es la pieza intermedia: corre en el portátil del alumno y habla con la API oficial de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alternativa habitual son servicios SaaS que piden tu token de Canvas: aquí la confianza se sustituye por código que cabe en una lectura. Decisión consciente: un solo módulo en vez de capas.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herramienta es una función Python con el decorador @mcp.tool(): la firma tipada y el docstring generan el esquema que ve el modelo. Además hay una herramienta auxiliar de línea de comandos, canvas-local-mcp-dump, que descarga todo el material para estudiar sin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suite usa httpx.MockTransport: cada prueba define las respuestas del «Canvas falso» y verifica la petición y la transformación. El bug de paginación solo se manifestaba con colecciones grandes: exactamente el tipo de fallo que las pruebas con dobles detectan antes que los usuarios. Ruff como linter; GitHub Actions ejecuta todo en cada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solo un script: es un paquete versionado con distribución automatizada. La publicación en el MCP Registry usa OIDC de GitHub, sin tokens guardados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reales del flujo diario. La tercera consulta usa la herramienta de volcado: todo el material de los cursos queda disponible sin conexión, listo para indexar o estudiar.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no vengo a pedir nada, vengo a compartir. Si a algún profesor le encaja como ejemplo en clase, o algún alumno quiere usarlo o contribuir, el repositorio está abierto. Encantado de recibir sugerencias de quien conoce Canvas desde el lado del profesorado.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canvas-mcp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28803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 local para Canvas LMS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194560" y="3886200"/>
            <a:ext cx="7799832" cy="658368"/>
          </a:xfrm>
          <a:prstGeom prst="roundRect">
            <a:avLst>
              <a:gd name="adj" fmla="val 16667"/>
            </a:avLst>
          </a:prstGeom>
          <a:solidFill>
            <a:srgbClr val="0E242D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3886200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[cliente MCP] --stdio--&gt; [server.py] --HTTPS--&gt; [API Canvas]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personal de código abierto  ·  julio de 2026  ·  github.com/admin978/canvas-mcp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517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1865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visto desde el pupitre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660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3008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con Canvas vía MCP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566928" cy="566928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803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primero, local-first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983480"/>
            <a:ext cx="566928" cy="566928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5294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operaciones de lectura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1554480"/>
            <a:ext cx="566928" cy="566928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06640" y="1517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06640" y="1865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lint e integración continua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2697480"/>
            <a:ext cx="566928" cy="566928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06640" y="2660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406640" y="3008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y MCP Registry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3840480"/>
            <a:ext cx="566928" cy="566928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0" y="3803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acción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06640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uso reales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4983480"/>
            <a:ext cx="566928" cy="566928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0664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interesar aquí?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406640" y="5294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estudiantes, docencia, contribuciones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Canvas visto desde el pupitre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9584" cy="3566160"/>
          </a:xfrm>
          <a:prstGeom prst="roundRect">
            <a:avLst>
              <a:gd name="adj" fmla="val 2591"/>
            </a:avLst>
          </a:prstGeom>
          <a:solidFill>
            <a:srgbClr val="EEF4F6"/>
          </a:solidFill>
          <a:ln/>
        </p:spPr>
      </p:sp>
      <p:sp>
        <p:nvSpPr>
          <p:cNvPr id="4" name="Shape 2"/>
          <p:cNvSpPr/>
          <p:nvPr/>
        </p:nvSpPr>
        <p:spPr>
          <a:xfrm>
            <a:off x="1929384" y="1828800"/>
            <a:ext cx="768096" cy="768096"/>
          </a:xfrm>
          <a:prstGeom prst="ellipse">
            <a:avLst/>
          </a:prstGeom>
          <a:solidFill>
            <a:srgbClr val="1F4E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770" y="2036186"/>
            <a:ext cx="353324" cy="3533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8892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fragmentada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está pensada para el profesorado. El estudiante salta entre cursos, módulos y pestañas para responder una sola pregunta.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70832" y="1417320"/>
            <a:ext cx="3529584" cy="3566160"/>
          </a:xfrm>
          <a:prstGeom prst="roundRect">
            <a:avLst>
              <a:gd name="adj" fmla="val 2591"/>
            </a:avLst>
          </a:prstGeom>
          <a:solidFill>
            <a:srgbClr val="EEF4F6"/>
          </a:solidFill>
          <a:ln/>
        </p:spPr>
      </p:sp>
      <p:sp>
        <p:nvSpPr>
          <p:cNvPr id="9" name="Shape 6"/>
          <p:cNvSpPr/>
          <p:nvPr/>
        </p:nvSpPr>
        <p:spPr>
          <a:xfrm>
            <a:off x="5751576" y="1828800"/>
            <a:ext cx="768096" cy="768096"/>
          </a:xfrm>
          <a:prstGeom prst="ellipse">
            <a:avLst/>
          </a:prstGeom>
          <a:solidFill>
            <a:srgbClr val="1F4E5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962" y="2036186"/>
            <a:ext cx="353324" cy="3533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278892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búsqueda transversal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45152" y="333756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buscar «entre todos mis cursos». Cada consulta hay que repetirla curso a curso.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93024" y="1417320"/>
            <a:ext cx="3529584" cy="3566160"/>
          </a:xfrm>
          <a:prstGeom prst="roundRect">
            <a:avLst>
              <a:gd name="adj" fmla="val 2591"/>
            </a:avLst>
          </a:prstGeom>
          <a:solidFill>
            <a:srgbClr val="EEF4F6"/>
          </a:solidFill>
          <a:ln/>
        </p:spPr>
      </p:sp>
      <p:sp>
        <p:nvSpPr>
          <p:cNvPr id="14" name="Shape 10"/>
          <p:cNvSpPr/>
          <p:nvPr/>
        </p:nvSpPr>
        <p:spPr>
          <a:xfrm>
            <a:off x="9573768" y="1828800"/>
            <a:ext cx="768096" cy="768096"/>
          </a:xfrm>
          <a:prstGeom prst="ellipse">
            <a:avLst/>
          </a:prstGeom>
          <a:solidFill>
            <a:srgbClr val="1F4E5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1154" y="2036186"/>
            <a:ext cx="353324" cy="3533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21624" y="278892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tardíos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67344" y="333756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notificaciones llegan tarde o no llegan. Las fechas límite se descubren mirando el calendario a mano.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están todos en Canvas — lo que falta es una forma cómoda de preguntar por ellos.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hablar con Canvas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abierto que permite a un asistente de IA invocar «herramientas» de servicios externos.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canvas-mcp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la API REST oficial de Canvas como 10 herramientas MCP de lectura: cursos, tareas, notas, agenda, anuncios y material.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</a:t>
            </a:r>
            <a:endParaRPr lang="en-US" sz="1600" dirty="0"/>
          </a:p>
          <a:p>
            <a:pPr indent="0" marL="0">
              <a:buNone/>
            </a:pPr>
            <a:r>
              <a:rPr lang="en-US" sz="14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Claude Code, Claude Desktop o cualquier cliente MCP: «¿qué entregas tengo esta semana?» y la respuesta llega con datos en vivo.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0" y="141732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1F4E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527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MCP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Claude Desktop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0" y="301752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1633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3127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canvas-mcp (local)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3547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· token en ~/.canvas.env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0" y="461772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1F4E5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4727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de Canvas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5148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instancia de la institución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0" y="2423160"/>
            <a:ext cx="0" cy="594360"/>
          </a:xfrm>
          <a:prstGeom prst="line">
            <a:avLst/>
          </a:prstGeom>
          <a:noFill/>
          <a:ln w="25400">
            <a:solidFill>
              <a:srgbClr val="5F707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64040" y="2496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26880" y="4023360"/>
            <a:ext cx="0" cy="594360"/>
          </a:xfrm>
          <a:prstGeom prst="line">
            <a:avLst/>
          </a:prstGeom>
          <a:noFill/>
          <a:ln w="25400">
            <a:solidFill>
              <a:srgbClr val="5F707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464040" y="40965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Diseño: privacidad primero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58368" cy="658368"/>
          </a:xfrm>
          <a:prstGeom prst="ellipse">
            <a:avLst/>
          </a:prstGeom>
          <a:solidFill>
            <a:srgbClr val="1F4E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39" y="1595079"/>
            <a:ext cx="302849" cy="3028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6192" y="1399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nunca sale de tu máquina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36192" y="17647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en ~/.canvas.env (permisos 600) y solo viaja a la instancia oficial de Canvas, por HTTPS.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32888"/>
            <a:ext cx="658368" cy="658368"/>
          </a:xfrm>
          <a:prstGeom prst="ellipse">
            <a:avLst/>
          </a:prstGeom>
          <a:solidFill>
            <a:srgbClr val="1F4E5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39" y="2710647"/>
            <a:ext cx="302849" cy="3028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2514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stdio, sin puertos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36192" y="28803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lanza el servidor como subproceso local: no hay red propia que asegurar.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648456"/>
            <a:ext cx="658368" cy="658368"/>
          </a:xfrm>
          <a:prstGeom prst="ellipse">
            <a:avLst/>
          </a:prstGeom>
          <a:solidFill>
            <a:srgbClr val="1F4E5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39" y="3826215"/>
            <a:ext cx="302849" cy="3028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6192" y="36301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 y auditable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36192" y="39959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leer el servidor entero antes de confiarle tu token. Solo lectura: no puede modificar nada en Canvas.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764024"/>
            <a:ext cx="658368" cy="658368"/>
          </a:xfrm>
          <a:prstGeom prst="ellipse">
            <a:avLst/>
          </a:prstGeom>
          <a:solidFill>
            <a:srgbClr val="1F4E5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4941783"/>
            <a:ext cx="302849" cy="3028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6192" y="47457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filtradas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536192" y="511149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de la API se reduce a los campos útiles antes de llegar al modelo.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046720" y="141732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EEF4F6"/>
          </a:solidFill>
          <a:ln/>
        </p:spPr>
      </p:sp>
      <p:sp>
        <p:nvSpPr>
          <p:cNvPr id="20" name="Text 14"/>
          <p:cNvSpPr/>
          <p:nvPr/>
        </p:nvSpPr>
        <p:spPr>
          <a:xfrm>
            <a:off x="8046720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4000" dirty="0"/>
          </a:p>
        </p:txBody>
      </p:sp>
      <p:sp>
        <p:nvSpPr>
          <p:cNvPr id="21" name="Text 15"/>
          <p:cNvSpPr/>
          <p:nvPr/>
        </p:nvSpPr>
        <p:spPr>
          <a:xfrm>
            <a:off x="804672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Python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046720" y="2907792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EEF4F6"/>
          </a:solidFill>
          <a:ln/>
        </p:spPr>
      </p:sp>
      <p:sp>
        <p:nvSpPr>
          <p:cNvPr id="23" name="Text 17"/>
          <p:cNvSpPr/>
          <p:nvPr/>
        </p:nvSpPr>
        <p:spPr>
          <a:xfrm>
            <a:off x="8046720" y="29992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8046720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intermediarios de terceros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046720" y="4398264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EEF4F6"/>
          </a:solidFill>
          <a:ln/>
        </p:spPr>
      </p:sp>
      <p:sp>
        <p:nvSpPr>
          <p:cNvPr id="26" name="Text 20"/>
          <p:cNvSpPr/>
          <p:nvPr/>
        </p:nvSpPr>
        <p:spPr>
          <a:xfrm>
            <a:off x="8046720" y="44897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27" name="Text 21"/>
          <p:cNvSpPr/>
          <p:nvPr/>
        </p:nvSpPr>
        <p:spPr>
          <a:xfrm>
            <a:off x="8046720" y="5221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(httpx + SDK MCP)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herramientas de lectura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39512" cy="2331720"/>
          </a:xfrm>
          <a:prstGeom prst="roundRect">
            <a:avLst>
              <a:gd name="adj" fmla="val 3922"/>
            </a:avLst>
          </a:prstGeom>
          <a:solidFill>
            <a:srgbClr val="EEF4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y contenido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list_courses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18688" y="210312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8" name="Text 6"/>
          <p:cNvSpPr/>
          <p:nvPr/>
        </p:nvSpPr>
        <p:spPr>
          <a:xfrm>
            <a:off x="3218688" y="210312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list_modules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761488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61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18688" y="2761488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12" name="Text 10"/>
          <p:cNvSpPr/>
          <p:nvPr/>
        </p:nvSpPr>
        <p:spPr>
          <a:xfrm>
            <a:off x="3218688" y="2761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get_file_info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5239512" cy="2331720"/>
          </a:xfrm>
          <a:prstGeom prst="roundRect">
            <a:avLst>
              <a:gd name="adj" fmla="val 3922"/>
            </a:avLst>
          </a:prstGeom>
          <a:solidFill>
            <a:srgbClr val="EE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60020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y agenda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75120" y="210312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10312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list_assignments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70848" y="210312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18" name="Text 16"/>
          <p:cNvSpPr/>
          <p:nvPr/>
        </p:nvSpPr>
        <p:spPr>
          <a:xfrm>
            <a:off x="9070848" y="210312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planner_items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2761488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761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upcoming_events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70848" y="2761488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22" name="Text 20"/>
          <p:cNvSpPr/>
          <p:nvPr/>
        </p:nvSpPr>
        <p:spPr>
          <a:xfrm>
            <a:off x="9070848" y="2761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5239512" cy="2331720"/>
          </a:xfrm>
          <a:prstGeom prst="roundRect">
            <a:avLst>
              <a:gd name="adj" fmla="val 3922"/>
            </a:avLst>
          </a:prstGeom>
          <a:solidFill>
            <a:srgbClr val="EE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60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466344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6344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list_announcements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3977640"/>
            <a:ext cx="5239512" cy="2331720"/>
          </a:xfrm>
          <a:prstGeom prst="roundRect">
            <a:avLst>
              <a:gd name="adj" fmla="val 3922"/>
            </a:avLst>
          </a:prstGeom>
          <a:solidFill>
            <a:srgbClr val="EE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160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75120" y="466344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16333F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6344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get_grades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Calidad: pruebas, lint y CI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9584" cy="1691640"/>
          </a:xfrm>
          <a:prstGeom prst="roundRect">
            <a:avLst>
              <a:gd name="adj" fmla="val 5405"/>
            </a:avLst>
          </a:prstGeom>
          <a:solidFill>
            <a:srgbClr val="EEF4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(pytest) contra una API de Canvas simulada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70832" y="1417320"/>
            <a:ext cx="3529584" cy="1691640"/>
          </a:xfrm>
          <a:prstGeom prst="roundRect">
            <a:avLst>
              <a:gd name="adj" fmla="val 5405"/>
            </a:avLst>
          </a:prstGeom>
          <a:solidFill>
            <a:srgbClr val="EEF4F6"/>
          </a:solidFill>
          <a:ln/>
        </p:spPr>
      </p:sp>
      <p:sp>
        <p:nvSpPr>
          <p:cNvPr id="7" name="Text 5"/>
          <p:cNvSpPr/>
          <p:nvPr/>
        </p:nvSpPr>
        <p:spPr>
          <a:xfrm>
            <a:off x="4370832" y="155448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99432" y="237744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de Python en CI (3.10 – 3.13)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93024" y="1417320"/>
            <a:ext cx="3529584" cy="1691640"/>
          </a:xfrm>
          <a:prstGeom prst="roundRect">
            <a:avLst>
              <a:gd name="adj" fmla="val 5405"/>
            </a:avLst>
          </a:prstGeom>
          <a:solidFill>
            <a:srgbClr val="EEF4F6"/>
          </a:solidFill>
          <a:ln/>
        </p:spPr>
      </p:sp>
      <p:sp>
        <p:nvSpPr>
          <p:cNvPr id="10" name="Text 8"/>
          <p:cNvSpPr/>
          <p:nvPr/>
        </p:nvSpPr>
        <p:spPr>
          <a:xfrm>
            <a:off x="8193024" y="155448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421624" y="237744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de red y credenciales necesarias en las pruebas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91672" cy="2377440"/>
          </a:xfrm>
          <a:prstGeom prst="roundRect">
            <a:avLst>
              <a:gd name="adj" fmla="val 3846"/>
            </a:avLst>
          </a:prstGeom>
          <a:solidFill>
            <a:srgbClr val="16333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14800"/>
            <a:ext cx="822960" cy="822960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99" y="4336999"/>
            <a:ext cx="378562" cy="37856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011680" y="37490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real cazado por las pruebas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01168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probar la paginación afloró un bucle infinito: al seguir el enlace rel="next", el código pasaba params={} y httpx eliminaba la query de la URL — el servidor pedía la página 1 una y otra vez en cualquier colección con más de una página. Corregido y cubierto con una prueba de regresión.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y automatizado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" y="182880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" y="1956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v0.1.1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9496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versión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2395728"/>
            <a:ext cx="301752" cy="0"/>
          </a:xfrm>
          <a:prstGeom prst="line">
            <a:avLst/>
          </a:prstGeom>
          <a:noFill/>
          <a:ln w="31750">
            <a:solidFill>
              <a:srgbClr val="5F70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74136" y="182880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6333F"/>
          </a:solidFill>
          <a:ln/>
        </p:spPr>
      </p:sp>
      <p:sp>
        <p:nvSpPr>
          <p:cNvPr id="8" name="Text 6"/>
          <p:cNvSpPr/>
          <p:nvPr/>
        </p:nvSpPr>
        <p:spPr>
          <a:xfrm>
            <a:off x="3374136" y="1956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65576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+ 21 pruebas × 4 Pythons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395728"/>
            <a:ext cx="301752" cy="0"/>
          </a:xfrm>
          <a:prstGeom prst="line">
            <a:avLst/>
          </a:prstGeom>
          <a:noFill/>
          <a:ln w="31750">
            <a:solidFill>
              <a:srgbClr val="5F70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0216" y="182880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F4E5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0216" y="1956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canvas-local-mcp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2395728"/>
            <a:ext cx="301752" cy="0"/>
          </a:xfrm>
          <a:prstGeom prst="line">
            <a:avLst/>
          </a:prstGeom>
          <a:noFill/>
          <a:ln w="31750">
            <a:solidFill>
              <a:srgbClr val="5F70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26296" y="182880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F4E5F"/>
          </a:solidFill>
          <a:ln/>
        </p:spPr>
      </p:sp>
      <p:sp>
        <p:nvSpPr>
          <p:cNvPr id="16" name="Text 14"/>
          <p:cNvSpPr/>
          <p:nvPr/>
        </p:nvSpPr>
        <p:spPr>
          <a:xfrm>
            <a:off x="9226296" y="1956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17736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OIDC, sin secretos almacenados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para cualquier alumno: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08960" y="4251960"/>
            <a:ext cx="5971032" cy="640080"/>
          </a:xfrm>
          <a:prstGeom prst="roundRect">
            <a:avLst>
              <a:gd name="adj" fmla="val 14286"/>
            </a:avLst>
          </a:prstGeom>
          <a:solidFill>
            <a:srgbClr val="0E242D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4251960"/>
            <a:ext cx="5971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canvas-local-mcp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F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en el MCP Registry oficial → los clientes compatibles pueden descubrirlo e instalarlo solos.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F4E5F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63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«¿Qué entregas tengo esta semana?»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78308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EEF4F6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Tres: la práctica de Redes el jueves 23:59, el test de Álgebra el viernes y una lectura para el lunes.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F4E5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00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«¿Cómo voy en Programación II?»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352044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EE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352044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Llevas un 8,4 de nota actual. La última práctica está calificada con 9/10.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9377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F4E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937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«Descárgame el material de todos mis cursos»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52578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EE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52578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canvas-local-mcp-dump → 412 ficheros en ./canvas-dump/, organizados por curso y módulo.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interesar aquí?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0E242D"/>
          </a:solidFill>
          <a:ln/>
        </p:spPr>
      </p:sp>
      <p:sp>
        <p:nvSpPr>
          <p:cNvPr id="4" name="Shape 2"/>
          <p:cNvSpPr/>
          <p:nvPr/>
        </p:nvSpPr>
        <p:spPr>
          <a:xfrm>
            <a:off x="1929384" y="1965960"/>
            <a:ext cx="768096" cy="768096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770" y="2173346"/>
            <a:ext cx="353324" cy="3533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803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estudiantes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alumno puede instalarlo hoy y usarlo con sus propios cursos. No requiere nada de la institución.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70832" y="160020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0E242D"/>
          </a:solidFill>
          <a:ln/>
        </p:spPr>
      </p:sp>
      <p:sp>
        <p:nvSpPr>
          <p:cNvPr id="9" name="Shape 6"/>
          <p:cNvSpPr/>
          <p:nvPr/>
        </p:nvSpPr>
        <p:spPr>
          <a:xfrm>
            <a:off x="5751576" y="1965960"/>
            <a:ext cx="768096" cy="768096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962" y="2173346"/>
            <a:ext cx="353324" cy="3533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28803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docencia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45152" y="33832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líneas con pruebas, CI y publicación automatizada: un caso de estudio compacto de ingeniería del software real.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93024" y="160020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0E242D"/>
          </a:solidFill>
          <a:ln/>
        </p:spPr>
      </p:sp>
      <p:sp>
        <p:nvSpPr>
          <p:cNvPr id="14" name="Shape 10"/>
          <p:cNvSpPr/>
          <p:nvPr/>
        </p:nvSpPr>
        <p:spPr>
          <a:xfrm>
            <a:off x="9573768" y="1965960"/>
            <a:ext cx="768096" cy="768096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1154" y="2173346"/>
            <a:ext cx="353324" cy="3533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21624" y="28803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contribuir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67344" y="33832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 (MIT). Ideas en marcha: búsqueda sobre el material, caché local, notificaciones proactivas.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108960" y="5029200"/>
            <a:ext cx="5971032" cy="594360"/>
          </a:xfrm>
          <a:prstGeom prst="roundRect">
            <a:avLst>
              <a:gd name="adj" fmla="val 15385"/>
            </a:avLst>
          </a:prstGeom>
          <a:solidFill>
            <a:srgbClr val="0E242D"/>
          </a:solidFill>
          <a:ln/>
        </p:spPr>
      </p:sp>
      <p:sp>
        <p:nvSpPr>
          <p:cNvPr id="19" name="Text 14"/>
          <p:cNvSpPr/>
          <p:nvPr/>
        </p:nvSpPr>
        <p:spPr>
          <a:xfrm>
            <a:off x="3108960" y="5029200"/>
            <a:ext cx="5971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D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canvas-local-mcp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github.com/admin978/canvas-mcp  ·  admin@agente404.com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2026-07-17T15:49:22Z</dcterms:created>
  <dcterms:modified xsi:type="dcterms:W3CDTF">2026-07-17T15:49:22Z</dcterms:modified>
</cp:coreProperties>
</file>